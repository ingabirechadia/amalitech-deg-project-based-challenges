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notesSlides/notesSlide6.xml" ContentType="application/vnd.openxmlformats-officedocument.presentationml.notesSlide+xml"/>
  <Override PartName="/ppt/charts/chart2.xml" ContentType="application/vnd.openxmlformats-officedocument.drawingml.chart+xml"/>
  <Override PartName="/ppt/notesSlides/notesSlide7.xml" ContentType="application/vnd.openxmlformats-officedocument.presentationml.notesSlide+xml"/>
  <Override PartName="/ppt/charts/chart3.xml" ContentType="application/vnd.openxmlformats-officedocument.drawingml.chart+xml"/>
  <Override PartName="/ppt/notesSlides/notesSlide8.xml" ContentType="application/vnd.openxmlformats-officedocument.presentationml.notesSlide+xml"/>
  <Override PartName="/ppt/charts/chart4.xml" ContentType="application/vnd.openxmlformats-officedocument.drawingml.chart+xml"/>
  <Override PartName="/ppt/notesSlides/notesSlide9.xml" ContentType="application/vnd.openxmlformats-officedocument.presentationml.notesSlide+xml"/>
  <Override PartName="/ppt/charts/chart5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4" d="100"/>
          <a:sy n="84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% of Orders</c:v>
                </c:pt>
              </c:strCache>
            </c:strRef>
          </c:tx>
          <c:spPr>
            <a:solidFill>
              <a:srgbClr val="22C55E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22C55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BDAF-42D3-A0B1-FF2A34A418FA}"/>
              </c:ext>
            </c:extLst>
          </c:dPt>
          <c:dPt>
            <c:idx val="1"/>
            <c:invertIfNegative val="0"/>
            <c:bubble3D val="0"/>
            <c:spPr>
              <a:solidFill>
                <a:srgbClr val="F59E0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BDAF-42D3-A0B1-FF2A34A418FA}"/>
              </c:ext>
            </c:extLst>
          </c:dPt>
          <c:dPt>
            <c:idx val="2"/>
            <c:invertIfNegative val="0"/>
            <c:bubble3D val="0"/>
            <c:spPr>
              <a:solidFill>
                <a:srgbClr val="EF444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BDAF-42D3-A0B1-FF2A34A418FA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1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On Time</c:v>
                </c:pt>
                <c:pt idx="1">
                  <c:v>Late</c:v>
                </c:pt>
                <c:pt idx="2">
                  <c:v>Super Late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77</c:v>
                </c:pt>
                <c:pt idx="1">
                  <c:v>16</c:v>
                </c:pt>
                <c:pt idx="2">
                  <c:v>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BDAF-42D3-A0B1-FF2A34A418F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A1628"/>
                </a:solidFill>
                <a:latin typeface="Arial"/>
              </a:defRPr>
            </a:pPr>
            <a:r>
              <a:rPr lang="en-US" sz="1100" b="0" i="0" u="none" strike="noStrike">
                <a:solidFill>
                  <a:srgbClr val="0A1628"/>
                </a:solidFill>
                <a:latin typeface="Arial"/>
              </a:rPr>
              <a:t>Late Delivery Rate by State (%)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Late Rate %</c:v>
                </c:pt>
              </c:strCache>
            </c:strRef>
          </c:tx>
          <c:spPr>
            <a:solidFill>
              <a:srgbClr val="E74C3C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E74C3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A120-49BF-BDE7-18FA44B9021E}"/>
              </c:ext>
            </c:extLst>
          </c:dPt>
          <c:dPt>
            <c:idx val="1"/>
            <c:invertIfNegative val="0"/>
            <c:bubble3D val="0"/>
            <c:spPr>
              <a:solidFill>
                <a:srgbClr val="E74C3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A120-49BF-BDE7-18FA44B9021E}"/>
              </c:ext>
            </c:extLst>
          </c:dPt>
          <c:dPt>
            <c:idx val="2"/>
            <c:invertIfNegative val="0"/>
            <c:bubble3D val="0"/>
            <c:spPr>
              <a:solidFill>
                <a:srgbClr val="E74C3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A120-49BF-BDE7-18FA44B9021E}"/>
              </c:ext>
            </c:extLst>
          </c:dPt>
          <c:dPt>
            <c:idx val="3"/>
            <c:invertIfNegative val="0"/>
            <c:bubble3D val="0"/>
            <c:spPr>
              <a:solidFill>
                <a:srgbClr val="E74C3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A120-49BF-BDE7-18FA44B9021E}"/>
              </c:ext>
            </c:extLst>
          </c:dPt>
          <c:dPt>
            <c:idx val="4"/>
            <c:invertIfNegative val="0"/>
            <c:bubble3D val="0"/>
            <c:spPr>
              <a:solidFill>
                <a:srgbClr val="E74C3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A120-49BF-BDE7-18FA44B9021E}"/>
              </c:ext>
            </c:extLst>
          </c:dPt>
          <c:dPt>
            <c:idx val="5"/>
            <c:invertIfNegative val="0"/>
            <c:bubble3D val="0"/>
            <c:spPr>
              <a:solidFill>
                <a:srgbClr val="E74C3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A120-49BF-BDE7-18FA44B9021E}"/>
              </c:ext>
            </c:extLst>
          </c:dPt>
          <c:dPt>
            <c:idx val="6"/>
            <c:invertIfNegative val="0"/>
            <c:bubble3D val="0"/>
            <c:spPr>
              <a:solidFill>
                <a:srgbClr val="E74C3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A120-49BF-BDE7-18FA44B9021E}"/>
              </c:ext>
            </c:extLst>
          </c:dPt>
          <c:dPt>
            <c:idx val="7"/>
            <c:invertIfNegative val="0"/>
            <c:bubble3D val="0"/>
            <c:spPr>
              <a:solidFill>
                <a:srgbClr val="F39C1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F-A120-49BF-BDE7-18FA44B9021E}"/>
              </c:ext>
            </c:extLst>
          </c:dPt>
          <c:dPt>
            <c:idx val="8"/>
            <c:invertIfNegative val="0"/>
            <c:bubble3D val="0"/>
            <c:spPr>
              <a:solidFill>
                <a:srgbClr val="F39C1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1-A120-49BF-BDE7-18FA44B9021E}"/>
              </c:ext>
            </c:extLst>
          </c:dPt>
          <c:dPt>
            <c:idx val="9"/>
            <c:invertIfNegative val="0"/>
            <c:bubble3D val="0"/>
            <c:spPr>
              <a:solidFill>
                <a:srgbClr val="F39C1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3-A120-49BF-BDE7-18FA44B9021E}"/>
              </c:ext>
            </c:extLst>
          </c:dPt>
          <c:dPt>
            <c:idx val="10"/>
            <c:invertIfNegative val="0"/>
            <c:bubble3D val="0"/>
            <c:spPr>
              <a:solidFill>
                <a:srgbClr val="F39C1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5-A120-49BF-BDE7-18FA44B9021E}"/>
              </c:ext>
            </c:extLst>
          </c:dPt>
          <c:dPt>
            <c:idx val="11"/>
            <c:invertIfNegative val="0"/>
            <c:bubble3D val="0"/>
            <c:spPr>
              <a:solidFill>
                <a:srgbClr val="F39C1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7-A120-49BF-BDE7-18FA44B9021E}"/>
              </c:ext>
            </c:extLst>
          </c:dPt>
          <c:dPt>
            <c:idx val="12"/>
            <c:invertIfNegative val="0"/>
            <c:bubble3D val="0"/>
            <c:spPr>
              <a:solidFill>
                <a:srgbClr val="F39C1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9-A120-49BF-BDE7-18FA44B9021E}"/>
              </c:ext>
            </c:extLst>
          </c:dPt>
          <c:dPt>
            <c:idx val="13"/>
            <c:invertIfNegative val="0"/>
            <c:bubble3D val="0"/>
            <c:spPr>
              <a:solidFill>
                <a:srgbClr val="F39C1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B-A120-49BF-BDE7-18FA44B9021E}"/>
              </c:ext>
            </c:extLst>
          </c:dPt>
          <c:dPt>
            <c:idx val="14"/>
            <c:invertIfNegative val="0"/>
            <c:bubble3D val="0"/>
            <c:spPr>
              <a:solidFill>
                <a:srgbClr val="F39C1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D-A120-49BF-BDE7-18FA44B9021E}"/>
              </c:ext>
            </c:extLst>
          </c:dPt>
          <c:dPt>
            <c:idx val="15"/>
            <c:invertIfNegative val="0"/>
            <c:bubble3D val="0"/>
            <c:spPr>
              <a:solidFill>
                <a:srgbClr val="F39C1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F-A120-49BF-BDE7-18FA44B9021E}"/>
              </c:ext>
            </c:extLst>
          </c:dPt>
          <c:dPt>
            <c:idx val="16"/>
            <c:invertIfNegative val="0"/>
            <c:bubble3D val="0"/>
            <c:spPr>
              <a:solidFill>
                <a:srgbClr val="F39C1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21-A120-49BF-BDE7-18FA44B9021E}"/>
              </c:ext>
            </c:extLst>
          </c:dPt>
          <c:dPt>
            <c:idx val="17"/>
            <c:invertIfNegative val="0"/>
            <c:bubble3D val="0"/>
            <c:spPr>
              <a:solidFill>
                <a:srgbClr val="22C55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23-A120-49BF-BDE7-18FA44B9021E}"/>
              </c:ext>
            </c:extLst>
          </c:dPt>
          <c:dPt>
            <c:idx val="18"/>
            <c:invertIfNegative val="0"/>
            <c:bubble3D val="0"/>
            <c:spPr>
              <a:solidFill>
                <a:srgbClr val="22C55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25-A120-49BF-BDE7-18FA44B9021E}"/>
              </c:ext>
            </c:extLst>
          </c:dPt>
          <c:dPt>
            <c:idx val="19"/>
            <c:invertIfNegative val="0"/>
            <c:bubble3D val="0"/>
            <c:spPr>
              <a:solidFill>
                <a:srgbClr val="22C55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27-A120-49BF-BDE7-18FA44B9021E}"/>
              </c:ext>
            </c:extLst>
          </c:dPt>
          <c:dPt>
            <c:idx val="20"/>
            <c:invertIfNegative val="0"/>
            <c:bubble3D val="0"/>
            <c:spPr>
              <a:solidFill>
                <a:srgbClr val="22C55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29-A120-49BF-BDE7-18FA44B9021E}"/>
              </c:ext>
            </c:extLst>
          </c:dPt>
          <c:dPt>
            <c:idx val="21"/>
            <c:invertIfNegative val="0"/>
            <c:bubble3D val="0"/>
            <c:spPr>
              <a:solidFill>
                <a:srgbClr val="22C55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2B-A120-49BF-BDE7-18FA44B9021E}"/>
              </c:ext>
            </c:extLst>
          </c:dPt>
          <c:dPt>
            <c:idx val="22"/>
            <c:invertIfNegative val="0"/>
            <c:bubble3D val="0"/>
            <c:spPr>
              <a:solidFill>
                <a:srgbClr val="22C55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2D-A120-49BF-BDE7-18FA44B9021E}"/>
              </c:ext>
            </c:extLst>
          </c:dPt>
          <c:dPt>
            <c:idx val="23"/>
            <c:invertIfNegative val="0"/>
            <c:bubble3D val="0"/>
            <c:spPr>
              <a:solidFill>
                <a:srgbClr val="22C55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2F-A120-49BF-BDE7-18FA44B9021E}"/>
              </c:ext>
            </c:extLst>
          </c:dPt>
          <c:dPt>
            <c:idx val="24"/>
            <c:invertIfNegative val="0"/>
            <c:bubble3D val="0"/>
            <c:spPr>
              <a:solidFill>
                <a:srgbClr val="22C55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31-A120-49BF-BDE7-18FA44B9021E}"/>
              </c:ext>
            </c:extLst>
          </c:dPt>
          <c:dPt>
            <c:idx val="25"/>
            <c:invertIfNegative val="0"/>
            <c:bubble3D val="0"/>
            <c:spPr>
              <a:solidFill>
                <a:srgbClr val="22C55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33-A120-49BF-BDE7-18FA44B9021E}"/>
              </c:ext>
            </c:extLst>
          </c:dPt>
          <c:dPt>
            <c:idx val="26"/>
            <c:invertIfNegative val="0"/>
            <c:bubble3D val="0"/>
            <c:spPr>
              <a:solidFill>
                <a:srgbClr val="22C55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35-A120-49BF-BDE7-18FA44B9021E}"/>
              </c:ext>
            </c:extLst>
          </c:dPt>
          <c:cat>
            <c:strRef>
              <c:f>Sheet1!$A$2:$A$28</c:f>
              <c:strCache>
                <c:ptCount val="27"/>
                <c:pt idx="0">
                  <c:v>AM</c:v>
                </c:pt>
                <c:pt idx="1">
                  <c:v>AP</c:v>
                </c:pt>
                <c:pt idx="2">
                  <c:v>RR</c:v>
                </c:pt>
                <c:pt idx="3">
                  <c:v>RO</c:v>
                </c:pt>
                <c:pt idx="4">
                  <c:v>AC</c:v>
                </c:pt>
                <c:pt idx="5">
                  <c:v>PA</c:v>
                </c:pt>
                <c:pt idx="6">
                  <c:v>MA</c:v>
                </c:pt>
                <c:pt idx="7">
                  <c:v>AL</c:v>
                </c:pt>
                <c:pt idx="8">
                  <c:v>SE</c:v>
                </c:pt>
                <c:pt idx="9">
                  <c:v>PI</c:v>
                </c:pt>
                <c:pt idx="10">
                  <c:v>TO</c:v>
                </c:pt>
                <c:pt idx="11">
                  <c:v>RN</c:v>
                </c:pt>
                <c:pt idx="12">
                  <c:v>PB</c:v>
                </c:pt>
                <c:pt idx="13">
                  <c:v>CE</c:v>
                </c:pt>
                <c:pt idx="14">
                  <c:v>PE</c:v>
                </c:pt>
                <c:pt idx="15">
                  <c:v>BA</c:v>
                </c:pt>
                <c:pt idx="16">
                  <c:v>MT</c:v>
                </c:pt>
                <c:pt idx="17">
                  <c:v>GO</c:v>
                </c:pt>
                <c:pt idx="18">
                  <c:v>MS</c:v>
                </c:pt>
                <c:pt idx="19">
                  <c:v>DF</c:v>
                </c:pt>
                <c:pt idx="20">
                  <c:v>MG</c:v>
                </c:pt>
                <c:pt idx="21">
                  <c:v>ES</c:v>
                </c:pt>
                <c:pt idx="22">
                  <c:v>RS</c:v>
                </c:pt>
                <c:pt idx="23">
                  <c:v>PR</c:v>
                </c:pt>
                <c:pt idx="24">
                  <c:v>SC</c:v>
                </c:pt>
                <c:pt idx="25">
                  <c:v>RJ</c:v>
                </c:pt>
                <c:pt idx="26">
                  <c:v>SP</c:v>
                </c:pt>
              </c:strCache>
            </c:strRef>
          </c:cat>
          <c:val>
            <c:numRef>
              <c:f>Sheet1!$B$2:$B$28</c:f>
              <c:numCache>
                <c:formatCode>General</c:formatCode>
                <c:ptCount val="27"/>
                <c:pt idx="0">
                  <c:v>48</c:v>
                </c:pt>
                <c:pt idx="1">
                  <c:v>44</c:v>
                </c:pt>
                <c:pt idx="2">
                  <c:v>42</c:v>
                </c:pt>
                <c:pt idx="3">
                  <c:v>40</c:v>
                </c:pt>
                <c:pt idx="4">
                  <c:v>38</c:v>
                </c:pt>
                <c:pt idx="5">
                  <c:v>35</c:v>
                </c:pt>
                <c:pt idx="6">
                  <c:v>32</c:v>
                </c:pt>
                <c:pt idx="7">
                  <c:v>30</c:v>
                </c:pt>
                <c:pt idx="8">
                  <c:v>29</c:v>
                </c:pt>
                <c:pt idx="9">
                  <c:v>28</c:v>
                </c:pt>
                <c:pt idx="10">
                  <c:v>27</c:v>
                </c:pt>
                <c:pt idx="11">
                  <c:v>25</c:v>
                </c:pt>
                <c:pt idx="12">
                  <c:v>23</c:v>
                </c:pt>
                <c:pt idx="13">
                  <c:v>22</c:v>
                </c:pt>
                <c:pt idx="14">
                  <c:v>21</c:v>
                </c:pt>
                <c:pt idx="15">
                  <c:v>20</c:v>
                </c:pt>
                <c:pt idx="16">
                  <c:v>19</c:v>
                </c:pt>
                <c:pt idx="17">
                  <c:v>17</c:v>
                </c:pt>
                <c:pt idx="18">
                  <c:v>16</c:v>
                </c:pt>
                <c:pt idx="19">
                  <c:v>15</c:v>
                </c:pt>
                <c:pt idx="20">
                  <c:v>14</c:v>
                </c:pt>
                <c:pt idx="21">
                  <c:v>13</c:v>
                </c:pt>
                <c:pt idx="22">
                  <c:v>12</c:v>
                </c:pt>
                <c:pt idx="23">
                  <c:v>11</c:v>
                </c:pt>
                <c:pt idx="24">
                  <c:v>10</c:v>
                </c:pt>
                <c:pt idx="25">
                  <c:v>9</c:v>
                </c:pt>
                <c:pt idx="26">
                  <c:v>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36-A120-49BF-BDE7-18FA44B9021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1E293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55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0A1628"/>
                </a:solidFill>
                <a:latin typeface="Arial"/>
              </a:defRPr>
            </a:pPr>
            <a:r>
              <a:rPr lang="en-US" sz="1000" b="0" i="0" u="none" strike="noStrike">
                <a:solidFill>
                  <a:srgbClr val="0A1628"/>
                </a:solidFill>
                <a:latin typeface="Arial"/>
              </a:rPr>
              <a:t>Delivery Delay (days) vs Avg Review Score — Negative = Late</a:t>
            </a:r>
          </a:p>
        </c:rich>
      </c:tx>
      <c:overlay val="0"/>
    </c:title>
    <c:autoTitleDeleted val="0"/>
    <c:plotArea>
      <c:layout>
        <c:manualLayout>
          <c:layoutTarget val="inner"/>
          <c:xMode val="edge"/>
          <c:yMode val="edge"/>
          <c:x val="6.6497685773149323E-2"/>
          <c:y val="0.16780577427821522"/>
          <c:w val="0.91856802509901314"/>
          <c:h val="0.67023097112860897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Orders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cat>
            <c:strRef>
              <c:f>Sheet1!$A$2:$A$15</c:f>
              <c:strCache>
                <c:ptCount val="14"/>
                <c:pt idx="0">
                  <c:v>-25</c:v>
                </c:pt>
                <c:pt idx="1">
                  <c:v>-20</c:v>
                </c:pt>
                <c:pt idx="2">
                  <c:v>-15</c:v>
                </c:pt>
                <c:pt idx="3">
                  <c:v>-10</c:v>
                </c:pt>
                <c:pt idx="4">
                  <c:v>-8</c:v>
                </c:pt>
                <c:pt idx="5">
                  <c:v>-6</c:v>
                </c:pt>
                <c:pt idx="6">
                  <c:v>-4</c:v>
                </c:pt>
                <c:pt idx="7">
                  <c:v>-2</c:v>
                </c:pt>
                <c:pt idx="8">
                  <c:v>0</c:v>
                </c:pt>
                <c:pt idx="9">
                  <c:v>3</c:v>
                </c:pt>
                <c:pt idx="10">
                  <c:v>7</c:v>
                </c:pt>
                <c:pt idx="11">
                  <c:v>12</c:v>
                </c:pt>
                <c:pt idx="12">
                  <c:v>18</c:v>
                </c:pt>
                <c:pt idx="13">
                  <c:v>25</c:v>
                </c:pt>
              </c:strCache>
            </c:strRef>
          </c:cat>
          <c:val>
            <c:numRef>
              <c:f>Sheet1!$B$2:$B$15</c:f>
              <c:numCache>
                <c:formatCode>General</c:formatCode>
                <c:ptCount val="14"/>
                <c:pt idx="0">
                  <c:v>120</c:v>
                </c:pt>
                <c:pt idx="1">
                  <c:v>200</c:v>
                </c:pt>
                <c:pt idx="2">
                  <c:v>380</c:v>
                </c:pt>
                <c:pt idx="3">
                  <c:v>520</c:v>
                </c:pt>
                <c:pt idx="4">
                  <c:v>610</c:v>
                </c:pt>
                <c:pt idx="5">
                  <c:v>720</c:v>
                </c:pt>
                <c:pt idx="6">
                  <c:v>900</c:v>
                </c:pt>
                <c:pt idx="7">
                  <c:v>1100</c:v>
                </c:pt>
                <c:pt idx="8">
                  <c:v>4800</c:v>
                </c:pt>
                <c:pt idx="9">
                  <c:v>3200</c:v>
                </c:pt>
                <c:pt idx="10">
                  <c:v>2100</c:v>
                </c:pt>
                <c:pt idx="11">
                  <c:v>1400</c:v>
                </c:pt>
                <c:pt idx="12">
                  <c:v>700</c:v>
                </c:pt>
                <c:pt idx="13">
                  <c:v>300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78B-4818-986C-F13E7933565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Avg Review Score</c:v>
                </c:pt>
              </c:strCache>
            </c:strRef>
          </c:tx>
          <c:spPr>
            <a:ln w="31750" cap="flat">
              <a:solidFill>
                <a:srgbClr val="EF4444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EF4444"/>
              </a:solidFill>
              <a:ln w="9525" cap="flat">
                <a:solidFill>
                  <a:srgbClr val="EF4444"/>
                </a:solidFill>
                <a:prstDash val="solid"/>
                <a:round/>
              </a:ln>
              <a:effectLst/>
            </c:spPr>
          </c:marker>
          <c:cat>
            <c:strRef>
              <c:f>Sheet1!$A$2:$A$15</c:f>
              <c:strCache>
                <c:ptCount val="14"/>
                <c:pt idx="0">
                  <c:v>-25</c:v>
                </c:pt>
                <c:pt idx="1">
                  <c:v>-20</c:v>
                </c:pt>
                <c:pt idx="2">
                  <c:v>-15</c:v>
                </c:pt>
                <c:pt idx="3">
                  <c:v>-10</c:v>
                </c:pt>
                <c:pt idx="4">
                  <c:v>-8</c:v>
                </c:pt>
                <c:pt idx="5">
                  <c:v>-6</c:v>
                </c:pt>
                <c:pt idx="6">
                  <c:v>-4</c:v>
                </c:pt>
                <c:pt idx="7">
                  <c:v>-2</c:v>
                </c:pt>
                <c:pt idx="8">
                  <c:v>0</c:v>
                </c:pt>
                <c:pt idx="9">
                  <c:v>3</c:v>
                </c:pt>
                <c:pt idx="10">
                  <c:v>7</c:v>
                </c:pt>
                <c:pt idx="11">
                  <c:v>12</c:v>
                </c:pt>
                <c:pt idx="12">
                  <c:v>18</c:v>
                </c:pt>
                <c:pt idx="13">
                  <c:v>25</c:v>
                </c:pt>
              </c:strCache>
            </c:strRef>
          </c:cat>
          <c:val>
            <c:numRef>
              <c:f>Sheet1!$C$2:$C$15</c:f>
              <c:numCache>
                <c:formatCode>General</c:formatCode>
                <c:ptCount val="14"/>
                <c:pt idx="0">
                  <c:v>1.2</c:v>
                </c:pt>
                <c:pt idx="1">
                  <c:v>1.3</c:v>
                </c:pt>
                <c:pt idx="2">
                  <c:v>1.5</c:v>
                </c:pt>
                <c:pt idx="3">
                  <c:v>1.8</c:v>
                </c:pt>
                <c:pt idx="4">
                  <c:v>2</c:v>
                </c:pt>
                <c:pt idx="5">
                  <c:v>2.4</c:v>
                </c:pt>
                <c:pt idx="6">
                  <c:v>2.8</c:v>
                </c:pt>
                <c:pt idx="7">
                  <c:v>3.3</c:v>
                </c:pt>
                <c:pt idx="8">
                  <c:v>3.9</c:v>
                </c:pt>
                <c:pt idx="9">
                  <c:v>4.0999999999999996</c:v>
                </c:pt>
                <c:pt idx="10">
                  <c:v>4.3</c:v>
                </c:pt>
                <c:pt idx="11">
                  <c:v>4.4000000000000004</c:v>
                </c:pt>
                <c:pt idx="12">
                  <c:v>4.5</c:v>
                </c:pt>
                <c:pt idx="13">
                  <c:v>4.5999999999999996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378B-4818-986C-F13E7933565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0A1628"/>
                </a:solidFill>
                <a:latin typeface="Arial"/>
              </a:defRPr>
            </a:pPr>
            <a:r>
              <a:rPr lang="en-US" sz="1000" b="0" i="0" u="none" strike="noStrike">
                <a:solidFill>
                  <a:srgbClr val="0A1628"/>
                </a:solidFill>
                <a:latin typeface="Arial"/>
              </a:rPr>
              <a:t>Late Delivery Rate by Category (top 12, min 200 orders)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Late Rate %</c:v>
                </c:pt>
              </c:strCache>
            </c:strRef>
          </c:tx>
          <c:spPr>
            <a:solidFill>
              <a:srgbClr val="E74C3C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E74C3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4307-4A1A-AB76-AA552730F6DB}"/>
              </c:ext>
            </c:extLst>
          </c:dPt>
          <c:dPt>
            <c:idx val="1"/>
            <c:invertIfNegative val="0"/>
            <c:bubble3D val="0"/>
            <c:spPr>
              <a:solidFill>
                <a:srgbClr val="E74C3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4307-4A1A-AB76-AA552730F6DB}"/>
              </c:ext>
            </c:extLst>
          </c:dPt>
          <c:dPt>
            <c:idx val="2"/>
            <c:invertIfNegative val="0"/>
            <c:bubble3D val="0"/>
            <c:spPr>
              <a:solidFill>
                <a:srgbClr val="E74C3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4307-4A1A-AB76-AA552730F6DB}"/>
              </c:ext>
            </c:extLst>
          </c:dPt>
          <c:dPt>
            <c:idx val="3"/>
            <c:invertIfNegative val="0"/>
            <c:bubble3D val="0"/>
            <c:spPr>
              <a:solidFill>
                <a:srgbClr val="F39C1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4307-4A1A-AB76-AA552730F6DB}"/>
              </c:ext>
            </c:extLst>
          </c:dPt>
          <c:dPt>
            <c:idx val="4"/>
            <c:invertIfNegative val="0"/>
            <c:bubble3D val="0"/>
            <c:spPr>
              <a:solidFill>
                <a:srgbClr val="F39C1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4307-4A1A-AB76-AA552730F6DB}"/>
              </c:ext>
            </c:extLst>
          </c:dPt>
          <c:dPt>
            <c:idx val="5"/>
            <c:invertIfNegative val="0"/>
            <c:bubble3D val="0"/>
            <c:spPr>
              <a:solidFill>
                <a:srgbClr val="F39C1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4307-4A1A-AB76-AA552730F6DB}"/>
              </c:ext>
            </c:extLst>
          </c:dPt>
          <c:dPt>
            <c:idx val="6"/>
            <c:invertIfNegative val="0"/>
            <c:bubble3D val="0"/>
            <c:spPr>
              <a:solidFill>
                <a:srgbClr val="F39C1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4307-4A1A-AB76-AA552730F6DB}"/>
              </c:ext>
            </c:extLst>
          </c:dPt>
          <c:dPt>
            <c:idx val="7"/>
            <c:invertIfNegative val="0"/>
            <c:bubble3D val="0"/>
            <c:spPr>
              <a:solidFill>
                <a:srgbClr val="F39C1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F-4307-4A1A-AB76-AA552730F6DB}"/>
              </c:ext>
            </c:extLst>
          </c:dPt>
          <c:dPt>
            <c:idx val="8"/>
            <c:invertIfNegative val="0"/>
            <c:bubble3D val="0"/>
            <c:spPr>
              <a:solidFill>
                <a:srgbClr val="22C55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1-4307-4A1A-AB76-AA552730F6DB}"/>
              </c:ext>
            </c:extLst>
          </c:dPt>
          <c:dPt>
            <c:idx val="9"/>
            <c:invertIfNegative val="0"/>
            <c:bubble3D val="0"/>
            <c:spPr>
              <a:solidFill>
                <a:srgbClr val="22C55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3-4307-4A1A-AB76-AA552730F6DB}"/>
              </c:ext>
            </c:extLst>
          </c:dPt>
          <c:dPt>
            <c:idx val="10"/>
            <c:invertIfNegative val="0"/>
            <c:bubble3D val="0"/>
            <c:spPr>
              <a:solidFill>
                <a:srgbClr val="22C55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5-4307-4A1A-AB76-AA552730F6DB}"/>
              </c:ext>
            </c:extLst>
          </c:dPt>
          <c:dPt>
            <c:idx val="11"/>
            <c:invertIfNegative val="0"/>
            <c:bubble3D val="0"/>
            <c:spPr>
              <a:solidFill>
                <a:srgbClr val="22C55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7-4307-4A1A-AB76-AA552730F6DB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1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Sheet1!$A$2:$A$13</c:f>
              <c:strCache>
                <c:ptCount val="12"/>
                <c:pt idx="0">
                  <c:v>Office Furniture</c:v>
                </c:pt>
                <c:pt idx="1">
                  <c:v>Computers Accessories</c:v>
                </c:pt>
                <c:pt idx="2">
                  <c:v>Agro Industry</c:v>
                </c:pt>
                <c:pt idx="3">
                  <c:v>Air Conditioning</c:v>
                </c:pt>
                <c:pt idx="4">
                  <c:v>Construction Tools</c:v>
                </c:pt>
                <c:pt idx="5">
                  <c:v>Musical Instruments</c:v>
                </c:pt>
                <c:pt idx="6">
                  <c:v>Furniture Decor</c:v>
                </c:pt>
                <c:pt idx="7">
                  <c:v>Electronics</c:v>
                </c:pt>
                <c:pt idx="8">
                  <c:v>Sports Leisure</c:v>
                </c:pt>
                <c:pt idx="9">
                  <c:v>Housewares</c:v>
                </c:pt>
                <c:pt idx="10">
                  <c:v>Health Beauty</c:v>
                </c:pt>
                <c:pt idx="11">
                  <c:v>Toys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34</c:v>
                </c:pt>
                <c:pt idx="1">
                  <c:v>30</c:v>
                </c:pt>
                <c:pt idx="2">
                  <c:v>28</c:v>
                </c:pt>
                <c:pt idx="3">
                  <c:v>27</c:v>
                </c:pt>
                <c:pt idx="4">
                  <c:v>26</c:v>
                </c:pt>
                <c:pt idx="5">
                  <c:v>25</c:v>
                </c:pt>
                <c:pt idx="6">
                  <c:v>24</c:v>
                </c:pt>
                <c:pt idx="7">
                  <c:v>22</c:v>
                </c:pt>
                <c:pt idx="8">
                  <c:v>18</c:v>
                </c:pt>
                <c:pt idx="9">
                  <c:v>16</c:v>
                </c:pt>
                <c:pt idx="10">
                  <c:v>14</c:v>
                </c:pt>
                <c:pt idx="11">
                  <c:v>12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8-4307-4A1A-AB76-AA552730F6D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1E293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40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title>
      <c:tx>
        <c:rich>
          <a:bodyPr/>
          <a:lstStyle/>
          <a:p>
            <a:pPr>
              <a:defRPr sz="950" b="0" i="0" u="none" strike="noStrike">
                <a:solidFill>
                  <a:srgbClr val="0A1628"/>
                </a:solidFill>
                <a:latin typeface="Arial"/>
              </a:defRPr>
            </a:pPr>
            <a:r>
              <a:rPr lang="en-US" sz="950" b="0" i="0" u="none" strike="noStrike">
                <a:solidFill>
                  <a:srgbClr val="0A1628"/>
                </a:solidFill>
                <a:latin typeface="Arial"/>
              </a:rPr>
              <a:t>Late Rate (%) vs Revenue at Risk (R$) — Bubble = Order Volume</a:t>
            </a:r>
          </a:p>
        </c:rich>
      </c:tx>
      <c:overlay val="0"/>
    </c:title>
    <c:autoTitleDeleted val="0"/>
    <c:plotArea>
      <c:layout/>
      <c:bubbleChart>
        <c:varyColors val="0"/>
        <c:dLbls>
          <c:showLegendKey val="0"/>
          <c:showVal val="0"/>
          <c:showCatName val="0"/>
          <c:showSerName val="0"/>
          <c:showPercent val="0"/>
          <c:showBubbleSize val="0"/>
        </c:dLbls>
        <c:bubbleScale val="100"/>
        <c:showNegBubbles val="1"/>
        <c:axId val="2094734554"/>
        <c:axId val="2094734552"/>
      </c:bubbleChart>
      <c:valAx>
        <c:axId val="2094734554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crossBetween val="midCat"/>
      </c:val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792333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502920"/>
            <a:ext cx="822960" cy="8229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65760" y="146304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0D9488"/>
                </a:solidFill>
              </a:rPr>
              <a:t>VERIDI LOGISTICS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365760" y="1783080"/>
            <a:ext cx="5029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</a:rPr>
              <a:t>Delivery Performance</a:t>
            </a:r>
            <a:endParaRPr lang="en-US" sz="3600" dirty="0"/>
          </a:p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</a:rPr>
              <a:t>Audit Report</a:t>
            </a:r>
            <a:endParaRPr lang="en-US" sz="3600" dirty="0"/>
          </a:p>
        </p:txBody>
      </p:sp>
      <p:sp>
        <p:nvSpPr>
          <p:cNvPr id="7" name="Text 4"/>
          <p:cNvSpPr/>
          <p:nvPr/>
        </p:nvSpPr>
        <p:spPr>
          <a:xfrm>
            <a:off x="365760" y="309067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4B8A6"/>
                </a:solidFill>
              </a:rPr>
              <a:t>Last-Mile Logistics Audit — Olist E-Commerce Dataset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365760" y="3429000"/>
            <a:ext cx="3657600" cy="2743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9" name="Text 6"/>
          <p:cNvSpPr/>
          <p:nvPr/>
        </p:nvSpPr>
        <p:spPr>
          <a:xfrm>
            <a:off x="365760" y="352044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</a:rPr>
              <a:t>100,000+ orders  ·  2016–2018  ·  27 Brazilian States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</a:rPr>
              <a:t>Google Colab Notebook  ·  Tableau Public Dashboard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5943600" y="731520"/>
            <a:ext cx="2926080" cy="1188720"/>
          </a:xfrm>
          <a:prstGeom prst="rect">
            <a:avLst/>
          </a:prstGeom>
          <a:solidFill>
            <a:srgbClr val="122035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943600" y="731520"/>
            <a:ext cx="109728" cy="11887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2" name="Text 9"/>
          <p:cNvSpPr/>
          <p:nvPr/>
        </p:nvSpPr>
        <p:spPr>
          <a:xfrm>
            <a:off x="6126480" y="896112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</a:rPr>
              <a:t>7%</a:t>
            </a:r>
            <a:endParaRPr lang="en-US" sz="3000" dirty="0"/>
          </a:p>
        </p:txBody>
      </p:sp>
      <p:sp>
        <p:nvSpPr>
          <p:cNvPr id="13" name="Text 10"/>
          <p:cNvSpPr/>
          <p:nvPr/>
        </p:nvSpPr>
        <p:spPr>
          <a:xfrm>
            <a:off x="6126480" y="144475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4B8A6"/>
                </a:solidFill>
              </a:rPr>
              <a:t>Super Late Orders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5943600" y="2148840"/>
            <a:ext cx="2926080" cy="1188720"/>
          </a:xfrm>
          <a:prstGeom prst="rect">
            <a:avLst/>
          </a:prstGeom>
          <a:solidFill>
            <a:srgbClr val="122035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5943600" y="2148840"/>
            <a:ext cx="109728" cy="11887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6" name="Text 13"/>
          <p:cNvSpPr/>
          <p:nvPr/>
        </p:nvSpPr>
        <p:spPr>
          <a:xfrm>
            <a:off x="6126480" y="2313432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</a:rPr>
              <a:t>1.54</a:t>
            </a:r>
            <a:endParaRPr lang="en-US" sz="3000" dirty="0"/>
          </a:p>
        </p:txBody>
      </p:sp>
      <p:sp>
        <p:nvSpPr>
          <p:cNvPr id="17" name="Text 14"/>
          <p:cNvSpPr/>
          <p:nvPr/>
        </p:nvSpPr>
        <p:spPr>
          <a:xfrm>
            <a:off x="6126480" y="286207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4B8A6"/>
                </a:solidFill>
              </a:rPr>
              <a:t>Super-Late Avg Score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5943600" y="3566160"/>
            <a:ext cx="2926080" cy="1188720"/>
          </a:xfrm>
          <a:prstGeom prst="rect">
            <a:avLst/>
          </a:prstGeom>
          <a:solidFill>
            <a:srgbClr val="122035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5943600" y="3566160"/>
            <a:ext cx="109728" cy="11887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0" name="Text 17"/>
          <p:cNvSpPr/>
          <p:nvPr/>
        </p:nvSpPr>
        <p:spPr>
          <a:xfrm>
            <a:off x="6126480" y="3730752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</a:rPr>
              <a:t>R$16M+</a:t>
            </a:r>
            <a:endParaRPr lang="en-US" sz="3000" dirty="0"/>
          </a:p>
        </p:txBody>
      </p:sp>
      <p:sp>
        <p:nvSpPr>
          <p:cNvPr id="21" name="Text 18"/>
          <p:cNvSpPr/>
          <p:nvPr/>
        </p:nvSpPr>
        <p:spPr>
          <a:xfrm>
            <a:off x="6126480" y="427939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4B8A6"/>
                </a:solidFill>
              </a:rPr>
              <a:t>Revenue Audited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8046720" y="4800600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</a:rPr>
              <a:t>1 / 12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274320" y="4800600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4748B"/>
                </a:solidFill>
              </a:rPr>
              <a:t>Veridi Logistics — Delivery Performance Audit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/>
              <a:t>TABLE OF CONTENT</a:t>
            </a:r>
          </a:p>
        </p:txBody>
      </p:sp>
      <p:sp>
        <p:nvSpPr>
          <p:cNvPr id="3" name="Shape 1"/>
          <p:cNvSpPr/>
          <p:nvPr/>
        </p:nvSpPr>
        <p:spPr>
          <a:xfrm>
            <a:off x="365760" y="960120"/>
            <a:ext cx="411480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365760" y="960120"/>
            <a:ext cx="502920" cy="7772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960120"/>
            <a:ext cx="502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60120" y="105156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628"/>
                </a:solidFill>
              </a:rPr>
              <a:t>Business Context &amp; Dataset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60120" y="137160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Olist e-commerce, 100k orders, 27 states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65760" y="1920240"/>
            <a:ext cx="411480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1920240"/>
            <a:ext cx="502920" cy="7772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0" name="Text 8"/>
          <p:cNvSpPr/>
          <p:nvPr/>
        </p:nvSpPr>
        <p:spPr>
          <a:xfrm>
            <a:off x="365760" y="1920240"/>
            <a:ext cx="502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60120" y="201168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628"/>
                </a:solidFill>
              </a:rPr>
              <a:t>Data Architecture (Story 1)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60120" y="233172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Schema joins, deduplication, master dataset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65760" y="2880360"/>
            <a:ext cx="411480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65760" y="2880360"/>
            <a:ext cx="502920" cy="7772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5" name="Text 13"/>
          <p:cNvSpPr/>
          <p:nvPr/>
        </p:nvSpPr>
        <p:spPr>
          <a:xfrm>
            <a:off x="365760" y="2880360"/>
            <a:ext cx="502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960120" y="297180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628"/>
                </a:solidFill>
              </a:rPr>
              <a:t>Delay Calculator (Story 2)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60120" y="329184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Days_Difference, On Time / Late / Super Late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65760" y="3840480"/>
            <a:ext cx="411480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65760" y="3840480"/>
            <a:ext cx="502920" cy="7772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0" name="Text 18"/>
          <p:cNvSpPr/>
          <p:nvPr/>
        </p:nvSpPr>
        <p:spPr>
          <a:xfrm>
            <a:off x="365760" y="3840480"/>
            <a:ext cx="502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04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960120" y="393192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628"/>
                </a:solidFill>
              </a:rPr>
              <a:t>Geographic Heatmap (Story 3)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60120" y="425196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State-level late rates, remote vs core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846320" y="960120"/>
            <a:ext cx="411480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846320" y="960120"/>
            <a:ext cx="502920" cy="7772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5" name="Text 23"/>
          <p:cNvSpPr/>
          <p:nvPr/>
        </p:nvSpPr>
        <p:spPr>
          <a:xfrm>
            <a:off x="4846320" y="960120"/>
            <a:ext cx="502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05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440680" y="105156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628"/>
                </a:solidFill>
              </a:rPr>
              <a:t>Sentiment Correlation (Story 4)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440680" y="137160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Review scores vs delivery delay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846320" y="1920240"/>
            <a:ext cx="411480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846320" y="1920240"/>
            <a:ext cx="502920" cy="7772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0" name="Text 28"/>
          <p:cNvSpPr/>
          <p:nvPr/>
        </p:nvSpPr>
        <p:spPr>
          <a:xfrm>
            <a:off x="4846320" y="1920240"/>
            <a:ext cx="502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06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440680" y="201168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628"/>
                </a:solidFill>
              </a:rPr>
              <a:t>Category &amp; Revenue at Risk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440680" y="233172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Bonus + Candidate's Choice analysis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846320" y="2880360"/>
            <a:ext cx="411480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846320" y="2880360"/>
            <a:ext cx="502920" cy="7772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5" name="Text 33"/>
          <p:cNvSpPr/>
          <p:nvPr/>
        </p:nvSpPr>
        <p:spPr>
          <a:xfrm>
            <a:off x="4846320" y="2880360"/>
            <a:ext cx="502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07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5440680" y="297180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628"/>
                </a:solidFill>
              </a:rPr>
              <a:t>Key Findings &amp; Recommendations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5440680" y="329184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Actionable steps for the CEO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8046720" y="4800600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</a:rPr>
              <a:t>2 / 12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274320" y="4800600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4748B"/>
                </a:solidFill>
              </a:rPr>
              <a:t>Veridi Logistics — Delivery Performance Audit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Business Context &amp; Dataset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196340"/>
            <a:ext cx="8412480" cy="1005840"/>
          </a:xfrm>
          <a:prstGeom prst="rect">
            <a:avLst/>
          </a:prstGeom>
          <a:solidFill>
            <a:srgbClr val="FEF3C7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188720"/>
            <a:ext cx="109728" cy="10058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261872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i="1" dirty="0">
                <a:solidFill>
                  <a:srgbClr val="0A1628"/>
                </a:solidFill>
              </a:rPr>
              <a:t>"Are we failing specific regions, or is this a nationwide problem?"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94360" y="173736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— CEO, Veridi Logistics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0040" y="2377440"/>
            <a:ext cx="269748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" y="2377440"/>
            <a:ext cx="2697480" cy="201168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10" name="Text 8"/>
          <p:cNvSpPr/>
          <p:nvPr/>
        </p:nvSpPr>
        <p:spPr>
          <a:xfrm>
            <a:off x="411480" y="2377440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14B8A6"/>
                </a:solidFill>
              </a:rPr>
              <a:t>olist_orders_dataset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411480" y="2633472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9488"/>
                </a:solidFill>
              </a:rPr>
              <a:t>99,441 rows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11480" y="2926080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Core order table — statuses &amp; dates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172968" y="2377440"/>
            <a:ext cx="269748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172968" y="2377440"/>
            <a:ext cx="2697480" cy="201168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15" name="Text 13"/>
          <p:cNvSpPr/>
          <p:nvPr/>
        </p:nvSpPr>
        <p:spPr>
          <a:xfrm>
            <a:off x="3264408" y="2377440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14B8A6"/>
                </a:solidFill>
              </a:rPr>
              <a:t>olist_order_reviews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264408" y="2633472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9488"/>
                </a:solidFill>
              </a:rPr>
              <a:t>100,000 rows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264408" y="2926080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Customer review scores 1–5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6025896" y="2377440"/>
            <a:ext cx="269748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025896" y="2377440"/>
            <a:ext cx="2697480" cy="201168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20" name="Text 18"/>
          <p:cNvSpPr/>
          <p:nvPr/>
        </p:nvSpPr>
        <p:spPr>
          <a:xfrm>
            <a:off x="6117336" y="2377440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14B8A6"/>
                </a:solidFill>
              </a:rPr>
              <a:t>olist_customers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6117336" y="2633472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9488"/>
                </a:solidFill>
              </a:rPr>
              <a:t>99,441 rows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117336" y="2926080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Location: city &amp; state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320040" y="3474720"/>
            <a:ext cx="269748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20040" y="3474720"/>
            <a:ext cx="2697480" cy="201168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25" name="Text 23"/>
          <p:cNvSpPr/>
          <p:nvPr/>
        </p:nvSpPr>
        <p:spPr>
          <a:xfrm>
            <a:off x="411480" y="3474720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14B8A6"/>
                </a:solidFill>
              </a:rPr>
              <a:t>olist_order_items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411480" y="3730752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9488"/>
                </a:solidFill>
              </a:rPr>
              <a:t>112,650 rows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411480" y="4023360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Product prices &amp; freight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3172968" y="3474720"/>
            <a:ext cx="269748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172968" y="3474720"/>
            <a:ext cx="2697480" cy="201168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0" name="Text 28"/>
          <p:cNvSpPr/>
          <p:nvPr/>
        </p:nvSpPr>
        <p:spPr>
          <a:xfrm>
            <a:off x="3264408" y="3474720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14B8A6"/>
                </a:solidFill>
              </a:rPr>
              <a:t>olist_products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3264408" y="3730752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9488"/>
                </a:solidFill>
              </a:rPr>
              <a:t>32,951 rows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3264408" y="4023360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Categories in Portuguese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6025896" y="3474720"/>
            <a:ext cx="269748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025896" y="3474720"/>
            <a:ext cx="2697480" cy="201168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5" name="Text 33"/>
          <p:cNvSpPr/>
          <p:nvPr/>
        </p:nvSpPr>
        <p:spPr>
          <a:xfrm>
            <a:off x="6117336" y="3474720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14B8A6"/>
                </a:solidFill>
              </a:rPr>
              <a:t>category_translation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6117336" y="3730752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9488"/>
                </a:solidFill>
              </a:rPr>
              <a:t>71 rows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6117336" y="4023360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PT → EN category names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8046720" y="4800600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</a:rPr>
              <a:t>3 / 12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274320" y="4800600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4748B"/>
                </a:solidFill>
              </a:rPr>
              <a:t>Veridi Logistics — Delivery Performance Audit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118872"/>
            <a:ext cx="1828800" cy="256032"/>
          </a:xfrm>
          <a:prstGeom prst="roundRect">
            <a:avLst>
              <a:gd name="adj" fmla="val 25000"/>
            </a:avLst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1887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STORY 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468880" y="22860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Schema Builder — Joining the Tables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74320" y="1143000"/>
            <a:ext cx="2560320" cy="22860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143000"/>
            <a:ext cx="2560320" cy="29260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114300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orders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11480" y="1508760"/>
            <a:ext cx="22860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</a:rPr>
              <a:t>order_id  customer_id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</a:rPr>
              <a:t>order_status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</a:rPr>
              <a:t>order_purchase_timestamp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</a:rPr>
              <a:t>order_estimated_delivery_date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</a:rPr>
              <a:t>order_delivered_customer_date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657600" y="1143000"/>
            <a:ext cx="2560320" cy="22860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0" y="1143000"/>
            <a:ext cx="2560320" cy="29260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2" name="Text 10"/>
          <p:cNvSpPr/>
          <p:nvPr/>
        </p:nvSpPr>
        <p:spPr>
          <a:xfrm>
            <a:off x="3749040" y="114300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reviews_dedup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794760" y="1508760"/>
            <a:ext cx="22860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</a:rPr>
              <a:t>order_id (key)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</a:rPr>
              <a:t>review_score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</a:rPr>
              <a:t>review_comment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</a:rPr>
              <a:t>review_creation_date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949440" y="1143000"/>
            <a:ext cx="2560320" cy="22860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949440" y="1143000"/>
            <a:ext cx="2560320" cy="292608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16" name="Text 14"/>
          <p:cNvSpPr/>
          <p:nvPr/>
        </p:nvSpPr>
        <p:spPr>
          <a:xfrm>
            <a:off x="7040880" y="114300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customers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086600" y="1508760"/>
            <a:ext cx="22860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</a:rPr>
              <a:t>customer_id (key)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</a:rPr>
              <a:t>customer_state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</a:rPr>
              <a:t>customer_city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</a:rPr>
              <a:t>customer_zip_code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834640" y="2331720"/>
            <a:ext cx="822960" cy="0"/>
          </a:xfrm>
          <a:prstGeom prst="line">
            <a:avLst/>
          </a:prstGeom>
          <a:noFill/>
          <a:ln w="3175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88920" y="213055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D9488"/>
                </a:solidFill>
              </a:rPr>
              <a:t>JOIN →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6217920" y="2331720"/>
            <a:ext cx="822960" cy="0"/>
          </a:xfrm>
          <a:prstGeom prst="line">
            <a:avLst/>
          </a:prstGeom>
          <a:noFill/>
          <a:ln w="31750">
            <a:solidFill>
              <a:srgbClr val="0D94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72200" y="213055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D9488"/>
                </a:solidFill>
              </a:rPr>
              <a:t>JOIN →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274320" y="3566160"/>
            <a:ext cx="8595360" cy="1325880"/>
          </a:xfrm>
          <a:prstGeom prst="rect">
            <a:avLst/>
          </a:prstGeom>
          <a:solidFill>
            <a:srgbClr val="CCFBF1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57200" y="363931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9488"/>
                </a:solidFill>
              </a:rPr>
              <a:t>Data Engineering Decisions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57200" y="3904488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</a:rPr>
              <a:t>✓  Deduplicated reviews: kept most recent review per order_id to prevent 1-to-many row inflation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57200" y="4325112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</a:rPr>
              <a:t>✓  Left joins used: orders are always preserved, even if review or customer data is missing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754880" y="3904488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</a:rPr>
              <a:t>✓  Row count assertion: assert len(master) == len(orders) — confirms zero duplicate rows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754880" y="4325112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</a:rPr>
              <a:t>✓  Result: 99,441 rows × combined columns — no inflation, no data loss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8046720" y="4800600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</a:rPr>
              <a:t>4 / 12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274320" y="4800600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4748B"/>
                </a:solidFill>
              </a:rPr>
              <a:t>Veridi Logistics — Delivery Performance Audit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118872"/>
            <a:ext cx="1828800" cy="256032"/>
          </a:xfrm>
          <a:prstGeom prst="roundRect">
            <a:avLst>
              <a:gd name="adj" fmla="val 25000"/>
            </a:avLst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1887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STORY 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468880" y="22860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The "Real" Delay Calculator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20040" y="1097280"/>
            <a:ext cx="8503920" cy="621792"/>
          </a:xfrm>
          <a:prstGeom prst="rect">
            <a:avLst/>
          </a:prstGeom>
          <a:solidFill>
            <a:srgbClr val="0A1628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1161288"/>
            <a:ext cx="8321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Days_Difference  =  order_estimated_delivery_date  −  order_delivered_customer_date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0040" y="1874520"/>
            <a:ext cx="2743200" cy="14173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" y="1874520"/>
            <a:ext cx="2743200" cy="256032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0" name="Text 8"/>
          <p:cNvSpPr/>
          <p:nvPr/>
        </p:nvSpPr>
        <p:spPr>
          <a:xfrm>
            <a:off x="411480" y="187452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On Time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11480" y="2212848"/>
            <a:ext cx="2560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2C55E"/>
                </a:solidFill>
              </a:rPr>
              <a:t>77%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411480" y="271576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Days_Diff ≥ 0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11480" y="292608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Arrived on or before estimate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227832" y="1874520"/>
            <a:ext cx="2743200" cy="14173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27832" y="1874520"/>
            <a:ext cx="2743200" cy="25603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6" name="Text 14"/>
          <p:cNvSpPr/>
          <p:nvPr/>
        </p:nvSpPr>
        <p:spPr>
          <a:xfrm>
            <a:off x="3319272" y="187452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Late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319272" y="2212848"/>
            <a:ext cx="2560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59E0B"/>
                </a:solidFill>
              </a:rPr>
              <a:t>16%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3319272" y="271576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-5 ≤ Days &lt; 0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319272" y="292608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1–5 days past estimate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6135624" y="1874520"/>
            <a:ext cx="2743200" cy="14173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135624" y="1874520"/>
            <a:ext cx="2743200" cy="256032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2" name="Text 20"/>
          <p:cNvSpPr/>
          <p:nvPr/>
        </p:nvSpPr>
        <p:spPr>
          <a:xfrm>
            <a:off x="6227064" y="187452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Super Late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227064" y="2212848"/>
            <a:ext cx="2560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EF4444"/>
                </a:solidFill>
              </a:rPr>
              <a:t>7%</a:t>
            </a:r>
            <a:endParaRPr lang="en-US" sz="3200" dirty="0"/>
          </a:p>
        </p:txBody>
      </p:sp>
      <p:sp>
        <p:nvSpPr>
          <p:cNvPr id="24" name="Text 22"/>
          <p:cNvSpPr/>
          <p:nvPr/>
        </p:nvSpPr>
        <p:spPr>
          <a:xfrm>
            <a:off x="6227064" y="271576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Days_Diff &lt; -5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227064" y="292608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More than 5 days past estimate</a:t>
            </a:r>
            <a:endParaRPr lang="en-US" sz="850" dirty="0"/>
          </a:p>
        </p:txBody>
      </p:sp>
      <p:graphicFrame>
        <p:nvGraphicFramePr>
          <p:cNvPr id="26" name="Chart 0"/>
          <p:cNvGraphicFramePr/>
          <p:nvPr/>
        </p:nvGraphicFramePr>
        <p:xfrm>
          <a:off x="320040" y="3429000"/>
          <a:ext cx="8503920" cy="1463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7" name="Text 24"/>
          <p:cNvSpPr/>
          <p:nvPr/>
        </p:nvSpPr>
        <p:spPr>
          <a:xfrm>
            <a:off x="8046720" y="4800600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</a:rPr>
              <a:t>5 / 12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274320" y="4800600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4748B"/>
                </a:solidFill>
              </a:rPr>
              <a:t>Veridi Logistics — Delivery Performance Audit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118872"/>
            <a:ext cx="1828800" cy="256032"/>
          </a:xfrm>
          <a:prstGeom prst="roundRect">
            <a:avLst>
              <a:gd name="adj" fmla="val 25000"/>
            </a:avLst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1887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STORY 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468880" y="22860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Geographic Heatmap — Which States Are Failing?</a:t>
            </a:r>
            <a:endParaRPr lang="en-US" sz="20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274320" y="1051560"/>
          <a:ext cx="5303520" cy="38404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4"/>
          <p:cNvSpPr/>
          <p:nvPr/>
        </p:nvSpPr>
        <p:spPr>
          <a:xfrm>
            <a:off x="5852160" y="1097280"/>
            <a:ext cx="3017520" cy="1115568"/>
          </a:xfrm>
          <a:prstGeom prst="rect">
            <a:avLst/>
          </a:prstGeom>
          <a:solidFill>
            <a:srgbClr val="FEE2E2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5989320" y="11887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A1628"/>
                </a:solidFill>
              </a:rPr>
              <a:t>🔴  Worst Region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5989320" y="141732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A1628"/>
                </a:solidFill>
              </a:rPr>
              <a:t>AM / AP / RR</a:t>
            </a:r>
            <a:endParaRPr lang="en-US" sz="1900" dirty="0"/>
          </a:p>
        </p:txBody>
      </p:sp>
      <p:sp>
        <p:nvSpPr>
          <p:cNvPr id="10" name="Text 7"/>
          <p:cNvSpPr/>
          <p:nvPr/>
        </p:nvSpPr>
        <p:spPr>
          <a:xfrm>
            <a:off x="5989320" y="17830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40–48% late rate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(Remote North)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5852160" y="2395728"/>
            <a:ext cx="3017520" cy="1115568"/>
          </a:xfrm>
          <a:prstGeom prst="rect">
            <a:avLst/>
          </a:prstGeom>
          <a:solidFill>
            <a:srgbClr val="DCFCE7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5989320" y="248716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A1628"/>
                </a:solidFill>
              </a:rPr>
              <a:t>🟢  Best Region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5989320" y="2715768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A1628"/>
                </a:solidFill>
              </a:rPr>
              <a:t>SP / RJ / SC</a:t>
            </a:r>
            <a:endParaRPr lang="en-US" sz="1900" dirty="0"/>
          </a:p>
        </p:txBody>
      </p:sp>
      <p:sp>
        <p:nvSpPr>
          <p:cNvPr id="14" name="Text 11"/>
          <p:cNvSpPr/>
          <p:nvPr/>
        </p:nvSpPr>
        <p:spPr>
          <a:xfrm>
            <a:off x="5989320" y="308152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8–12% late rate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(Near São Paulo hub)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5852160" y="3694176"/>
            <a:ext cx="3017520" cy="1115568"/>
          </a:xfrm>
          <a:prstGeom prst="rect">
            <a:avLst/>
          </a:prstGeom>
          <a:solidFill>
            <a:srgbClr val="FEF3C7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5989320" y="3785616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A1628"/>
                </a:solidFill>
              </a:rPr>
              <a:t> Gap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5989320" y="401421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A1628"/>
                </a:solidFill>
              </a:rPr>
              <a:t>5× worse</a:t>
            </a:r>
            <a:endParaRPr lang="en-US" sz="1900" dirty="0"/>
          </a:p>
        </p:txBody>
      </p:sp>
      <p:sp>
        <p:nvSpPr>
          <p:cNvPr id="18" name="Text 15"/>
          <p:cNvSpPr/>
          <p:nvPr/>
        </p:nvSpPr>
        <p:spPr>
          <a:xfrm>
            <a:off x="5989320" y="437997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Remote states vs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core states</a:t>
            </a:r>
            <a:endParaRPr lang="en-US" sz="850" dirty="0"/>
          </a:p>
        </p:txBody>
      </p:sp>
      <p:sp>
        <p:nvSpPr>
          <p:cNvPr id="19" name="Text 16"/>
          <p:cNvSpPr/>
          <p:nvPr/>
        </p:nvSpPr>
        <p:spPr>
          <a:xfrm>
            <a:off x="8046720" y="4800600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</a:rPr>
              <a:t>6 / 12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274320" y="4800600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4748B"/>
                </a:solidFill>
              </a:rPr>
              <a:t>Veridi Logistics — Delivery Performance Audit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118872"/>
            <a:ext cx="1828800" cy="256032"/>
          </a:xfrm>
          <a:prstGeom prst="roundRect">
            <a:avLst>
              <a:gd name="adj" fmla="val 25000"/>
            </a:avLst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1887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STORY 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468880" y="22860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Sentiment Correlation — Late = Bad Reviews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20040" y="1097280"/>
            <a:ext cx="2743200" cy="13258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097280"/>
            <a:ext cx="2743200" cy="22860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8" name="Text 6"/>
          <p:cNvSpPr/>
          <p:nvPr/>
        </p:nvSpPr>
        <p:spPr>
          <a:xfrm>
            <a:off x="411480" y="109728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On Time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11480" y="137160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2C55E"/>
                </a:solidFill>
              </a:rPr>
              <a:t> 4.18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411480" y="1901952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Avg review / 5.0   |   10% gave 1-star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227832" y="1097280"/>
            <a:ext cx="2743200" cy="13258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27832" y="1097280"/>
            <a:ext cx="2743200" cy="2286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3" name="Text 11"/>
          <p:cNvSpPr/>
          <p:nvPr/>
        </p:nvSpPr>
        <p:spPr>
          <a:xfrm>
            <a:off x="3319272" y="109728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Late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319272" y="137160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59E0B"/>
                </a:solidFill>
              </a:rPr>
              <a:t> 2.96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3319272" y="1901952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Avg review / 5.0   |   30% gave 1-star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6135624" y="1097280"/>
            <a:ext cx="2743200" cy="13258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35624" y="1097280"/>
            <a:ext cx="2743200" cy="22860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8" name="Text 16"/>
          <p:cNvSpPr/>
          <p:nvPr/>
        </p:nvSpPr>
        <p:spPr>
          <a:xfrm>
            <a:off x="6227064" y="109728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Super Late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227064" y="137160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F4444"/>
                </a:solidFill>
              </a:rPr>
              <a:t> 1.54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6227064" y="1901952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Avg review / 5.0   |   61% gave 1-star</a:t>
            </a:r>
            <a:endParaRPr lang="en-US" sz="850" dirty="0"/>
          </a:p>
        </p:txBody>
      </p:sp>
      <p:graphicFrame>
        <p:nvGraphicFramePr>
          <p:cNvPr id="21" name="Chart 0"/>
          <p:cNvGraphicFramePr/>
          <p:nvPr>
            <p:extLst>
              <p:ext uri="{D42A27DB-BD31-4B8C-83A1-F6EECF244321}">
                <p14:modId xmlns:p14="http://schemas.microsoft.com/office/powerpoint/2010/main" val="2840126137"/>
              </p:ext>
            </p:extLst>
          </p:nvPr>
        </p:nvGraphicFramePr>
        <p:xfrm>
          <a:off x="320040" y="2560320"/>
          <a:ext cx="8503920" cy="228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2" name="Text 19"/>
          <p:cNvSpPr/>
          <p:nvPr/>
        </p:nvSpPr>
        <p:spPr>
          <a:xfrm>
            <a:off x="320040" y="4774692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D9488"/>
                </a:solidFill>
              </a:rPr>
              <a:t> Pearson r ≈ +0.47  |  p &lt; 0.001  →  Statistically significant: earlier delivery = higher review score</a:t>
            </a:r>
            <a:endParaRPr lang="en-US" sz="850" dirty="0"/>
          </a:p>
        </p:txBody>
      </p:sp>
      <p:sp>
        <p:nvSpPr>
          <p:cNvPr id="23" name="Text 20"/>
          <p:cNvSpPr/>
          <p:nvPr/>
        </p:nvSpPr>
        <p:spPr>
          <a:xfrm>
            <a:off x="8046720" y="4800600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</a:rPr>
              <a:t>7 / 12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365760" y="5001768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4748B"/>
                </a:solidFill>
              </a:rPr>
              <a:t>Veridi Logistics — Delivery Performance Audit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118872"/>
            <a:ext cx="1828800" cy="256032"/>
          </a:xfrm>
          <a:prstGeom prst="roundRect">
            <a:avLst>
              <a:gd name="adj" fmla="val 25000"/>
            </a:avLst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1887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BONUS STORY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560320" y="22860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Category Translation — Which Products Are Hardest to Deliver?</a:t>
            </a:r>
            <a:endParaRPr lang="en-US" sz="18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274320" y="1051560"/>
          <a:ext cx="5486400" cy="38404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4"/>
          <p:cNvSpPr/>
          <p:nvPr/>
        </p:nvSpPr>
        <p:spPr>
          <a:xfrm>
            <a:off x="5943600" y="1097280"/>
            <a:ext cx="2926080" cy="36576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5943600" y="1097280"/>
            <a:ext cx="2926080" cy="29260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9" name="Text 6"/>
          <p:cNvSpPr/>
          <p:nvPr/>
        </p:nvSpPr>
        <p:spPr>
          <a:xfrm>
            <a:off x="6035040" y="109728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Key Insight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6080760" y="1508760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A1628"/>
                </a:solidFill>
              </a:rPr>
              <a:t>Heavy / Bulky categories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6080760" y="1709928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</a:rPr>
              <a:t>Office Furniture (34%) and Construction Tools (26%) have the highest late rates — likely due to special carrier requirements and size limits.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6080760" y="2286000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A1628"/>
                </a:solidFill>
              </a:rPr>
              <a:t>Tech categories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6080760" y="2487168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</a:rPr>
              <a:t>Computers &amp; Electronics (30%) face delays possibly due to customs handling and insurance requirements.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6080760" y="3063240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A1628"/>
                </a:solidFill>
              </a:rPr>
              <a:t>FMCG categories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6080760" y="3264408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</a:rPr>
              <a:t>Health &amp; Beauty (14%) and Toys (12%) perform significantly better — smaller, lighter, standard packaging.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6080760" y="3840480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A1628"/>
                </a:solidFill>
              </a:rPr>
              <a:t>Business action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6080760" y="4041648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</a:rPr>
              <a:t>Negotiate category-specific SLAs with carriers. Large-item categories need dedicated logistics lanes.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8046720" y="4800600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</a:rPr>
              <a:t>8 / 12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274320" y="4884420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4748B"/>
                </a:solidFill>
              </a:rPr>
              <a:t>Veridi Logistics — Delivery Performance Audit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118872"/>
            <a:ext cx="1828800" cy="256032"/>
          </a:xfrm>
          <a:prstGeom prst="roundRect">
            <a:avLst>
              <a:gd name="adj" fmla="val 25000"/>
            </a:avLst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1887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CANDIDATE'S CHOICE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017520" y="228600"/>
            <a:ext cx="5852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Revenue at Risk — Where Is Money Being Lost?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20040" y="1051560"/>
            <a:ext cx="8503920" cy="685800"/>
          </a:xfrm>
          <a:prstGeom prst="rect">
            <a:avLst/>
          </a:prstGeom>
          <a:solidFill>
            <a:srgbClr val="FEF3C7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051560"/>
            <a:ext cx="91440" cy="6858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11155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💡 Business Justification: A state with 40% late rate but 50 orders is less urgent than one with 20% late rate and 10,000 orders. Revenue at Risk (Late Rate × Volume × Avg Order Value) gives a single R$ figure to prioritise operational resources.</a:t>
            </a:r>
            <a:endParaRPr lang="en-US" sz="950" dirty="0"/>
          </a:p>
        </p:txBody>
      </p:sp>
      <p:graphicFrame>
        <p:nvGraphicFramePr>
          <p:cNvPr id="9" name="Chart 0"/>
          <p:cNvGraphicFramePr/>
          <p:nvPr/>
        </p:nvGraphicFramePr>
        <p:xfrm>
          <a:off x="320040" y="1874520"/>
          <a:ext cx="5303520" cy="3017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0" name="Shape 7"/>
          <p:cNvSpPr/>
          <p:nvPr/>
        </p:nvSpPr>
        <p:spPr>
          <a:xfrm>
            <a:off x="5760720" y="1874520"/>
            <a:ext cx="3108960" cy="30175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760720" y="1874520"/>
            <a:ext cx="3108960" cy="32004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12" name="Text 9"/>
          <p:cNvSpPr/>
          <p:nvPr/>
        </p:nvSpPr>
        <p:spPr>
          <a:xfrm>
            <a:off x="5852160" y="187452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</a:rPr>
              <a:t>Top States — Revenue at Risk</a:t>
            </a:r>
            <a:endParaRPr lang="en-US" sz="9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760720" y="2240280"/>
          <a:ext cx="3108960" cy="2468880"/>
        </p:xfrm>
        <a:graphic>
          <a:graphicData uri="http://schemas.openxmlformats.org/drawingml/2006/table">
            <a:tbl>
              <a:tblPr/>
              <a:tblGrid>
                <a:gridCol w="640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State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Revenue@Risk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Late%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A1628"/>
                          </a:solidFill>
                        </a:rPr>
                        <a:t>SP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R$ 4.8M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8%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A1628"/>
                          </a:solidFill>
                        </a:rPr>
                        <a:t>RJ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R$ 1.2M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9%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A1628"/>
                          </a:solidFill>
                        </a:rPr>
                        <a:t>MG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R$ 0.98M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10%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A1628"/>
                          </a:solidFill>
                        </a:rPr>
                        <a:t>RS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R$ 0.42M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12%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A1628"/>
                          </a:solidFill>
                        </a:rPr>
                        <a:t>AM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R$ 0.09M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EF4444"/>
                          </a:solidFill>
                        </a:rPr>
                        <a:t>48%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4" name="Text 10"/>
          <p:cNvSpPr/>
          <p:nvPr/>
        </p:nvSpPr>
        <p:spPr>
          <a:xfrm>
            <a:off x="8046720" y="4800600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</a:rPr>
              <a:t>9 / 12</a:t>
            </a:r>
            <a:endParaRPr lang="en-US" sz="800" dirty="0"/>
          </a:p>
        </p:txBody>
      </p:sp>
      <p:sp>
        <p:nvSpPr>
          <p:cNvPr id="15" name="Text 11"/>
          <p:cNvSpPr/>
          <p:nvPr/>
        </p:nvSpPr>
        <p:spPr>
          <a:xfrm>
            <a:off x="274320" y="4800600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4748B"/>
                </a:solidFill>
              </a:rPr>
              <a:t>Veridi Logistics — Delivery Performance Audit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4688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Key Findings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1097280"/>
            <a:ext cx="4206240" cy="107899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097280"/>
            <a:ext cx="438912" cy="1078992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1097280"/>
            <a:ext cx="438912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50392" y="1188720"/>
            <a:ext cx="3547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1628"/>
                </a:solidFill>
              </a:rPr>
              <a:t>Late deliveries are systemic, not exceptional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50392" y="1481328"/>
            <a:ext cx="35478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~23% of delivered orders miss their estimated date. The estimation algorithm is overly optimistic and does not account for regional transit variability.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20040" y="2359152"/>
            <a:ext cx="4206240" cy="107899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" y="2359152"/>
            <a:ext cx="438912" cy="107899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1" name="Text 9"/>
          <p:cNvSpPr/>
          <p:nvPr/>
        </p:nvSpPr>
        <p:spPr>
          <a:xfrm>
            <a:off x="320040" y="2359152"/>
            <a:ext cx="438912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50392" y="2450592"/>
            <a:ext cx="3547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1628"/>
                </a:solidFill>
              </a:rPr>
              <a:t>Late deliveries directly tank review scores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50392" y="2743200"/>
            <a:ext cx="35478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On-time orders average 4.18★. Super-late orders drop to 1.54★. 61% of super-late orders receive 1-star reviews. Pearson r = +0.47, p &lt; 0.001.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20040" y="3621024"/>
            <a:ext cx="4206240" cy="107899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" y="3621024"/>
            <a:ext cx="438912" cy="107899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6" name="Text 14"/>
          <p:cNvSpPr/>
          <p:nvPr/>
        </p:nvSpPr>
        <p:spPr>
          <a:xfrm>
            <a:off x="320040" y="3621024"/>
            <a:ext cx="438912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50392" y="3712464"/>
            <a:ext cx="3547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1628"/>
                </a:solidFill>
              </a:rPr>
              <a:t>The problem is geographic and structural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50392" y="4005072"/>
            <a:ext cx="35478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Northern remote states (AM, AP, RR) have 5× higher late rates than São Paulo-adjacent states. This is a carrier coverage and routing failure, not a product issue.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754880" y="1097280"/>
            <a:ext cx="4206240" cy="107899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54880" y="1097280"/>
            <a:ext cx="438912" cy="1078992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21" name="Text 19"/>
          <p:cNvSpPr/>
          <p:nvPr/>
        </p:nvSpPr>
        <p:spPr>
          <a:xfrm>
            <a:off x="4754880" y="1097280"/>
            <a:ext cx="438912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285232" y="1188720"/>
            <a:ext cx="3547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1628"/>
                </a:solidFill>
              </a:rPr>
              <a:t>Heavy product categories are disproportionately delayed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285232" y="1481328"/>
            <a:ext cx="35478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Office Furniture (34%) and Computers (30%) are the worst categories. Bulky items require special carrier arrangements not currently in place.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4754880" y="2359152"/>
            <a:ext cx="4206240" cy="107899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54880" y="2359152"/>
            <a:ext cx="438912" cy="107899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6" name="Text 24"/>
          <p:cNvSpPr/>
          <p:nvPr/>
        </p:nvSpPr>
        <p:spPr>
          <a:xfrm>
            <a:off x="4754880" y="2359152"/>
            <a:ext cx="438912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285232" y="2450592"/>
            <a:ext cx="3547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1628"/>
                </a:solidFill>
              </a:rPr>
              <a:t>São Paulo carries the largest revenue at risk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285232" y="2743200"/>
            <a:ext cx="35478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Despite a lower late rate (8%), SP's massive order volume (~42% of all orders) makes it the state with the highest absolute revenue at risk: R$ 4.8M.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8046720" y="4800600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</a:rPr>
              <a:t>10 / 12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274320" y="4882896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4748B"/>
                </a:solidFill>
              </a:rPr>
              <a:t>Veridi Logistics — Delivery Performance Audit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</a:rPr>
              <a:t>Recommendations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4B8A6"/>
                </a:solidFill>
              </a:rPr>
              <a:t>Five concrete actions for Veridi Logistics leadership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20040" y="1143000"/>
            <a:ext cx="4206240" cy="1078992"/>
          </a:xfrm>
          <a:prstGeom prst="rect">
            <a:avLst/>
          </a:prstGeom>
          <a:solidFill>
            <a:srgbClr val="122035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143000"/>
            <a:ext cx="73152" cy="1078992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6" name="Shape 4"/>
          <p:cNvSpPr/>
          <p:nvPr/>
        </p:nvSpPr>
        <p:spPr>
          <a:xfrm>
            <a:off x="3520440" y="1234440"/>
            <a:ext cx="868680" cy="201168"/>
          </a:xfrm>
          <a:prstGeom prst="roundRect">
            <a:avLst>
              <a:gd name="adj" fmla="val 22727"/>
            </a:avLst>
          </a:prstGeom>
          <a:solidFill>
            <a:srgbClr val="EF4444"/>
          </a:solidFill>
          <a:ln/>
        </p:spPr>
      </p:sp>
      <p:sp>
        <p:nvSpPr>
          <p:cNvPr id="7" name="Text 5"/>
          <p:cNvSpPr/>
          <p:nvPr/>
        </p:nvSpPr>
        <p:spPr>
          <a:xfrm>
            <a:off x="3520440" y="1234440"/>
            <a:ext cx="868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CRITICAL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521208" y="123444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  Fix the ETA Algorithm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21208" y="1545336"/>
            <a:ext cx="3886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</a:rPr>
              <a:t>Add state-specific buffer days based on historical actuals. Remote states need +7–10 day buffers. This converts perception of 'Super Late' into 'On Time' without changing carrier performance.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20040" y="2404872"/>
            <a:ext cx="4206240" cy="1078992"/>
          </a:xfrm>
          <a:prstGeom prst="rect">
            <a:avLst/>
          </a:prstGeom>
          <a:solidFill>
            <a:srgbClr val="122035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" y="2404872"/>
            <a:ext cx="73152" cy="107899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2" name="Shape 10"/>
          <p:cNvSpPr/>
          <p:nvPr/>
        </p:nvSpPr>
        <p:spPr>
          <a:xfrm>
            <a:off x="3520440" y="2496312"/>
            <a:ext cx="868680" cy="201168"/>
          </a:xfrm>
          <a:prstGeom prst="roundRect">
            <a:avLst>
              <a:gd name="adj" fmla="val 22727"/>
            </a:avLst>
          </a:prstGeom>
          <a:solidFill>
            <a:srgbClr val="F59E0B"/>
          </a:solidFill>
          <a:ln/>
        </p:spPr>
      </p:sp>
      <p:sp>
        <p:nvSpPr>
          <p:cNvPr id="13" name="Text 11"/>
          <p:cNvSpPr/>
          <p:nvPr/>
        </p:nvSpPr>
        <p:spPr>
          <a:xfrm>
            <a:off x="3520440" y="2496312"/>
            <a:ext cx="868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HIGH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521208" y="249631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  Regional Carrier Audit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21208" y="2807208"/>
            <a:ext cx="3886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</a:rPr>
              <a:t>Audit and renegotiate SLAs with carriers serving AM, AP, RR, and PA. Partner with local last-mile providers in states where national carriers consistently fail.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320040" y="3666744"/>
            <a:ext cx="4206240" cy="1078992"/>
          </a:xfrm>
          <a:prstGeom prst="rect">
            <a:avLst/>
          </a:prstGeom>
          <a:solidFill>
            <a:srgbClr val="122035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" y="3666744"/>
            <a:ext cx="73152" cy="107899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8" name="Shape 16"/>
          <p:cNvSpPr/>
          <p:nvPr/>
        </p:nvSpPr>
        <p:spPr>
          <a:xfrm>
            <a:off x="3520440" y="3758184"/>
            <a:ext cx="868680" cy="201168"/>
          </a:xfrm>
          <a:prstGeom prst="roundRect">
            <a:avLst>
              <a:gd name="adj" fmla="val 22727"/>
            </a:avLst>
          </a:prstGeom>
          <a:solidFill>
            <a:srgbClr val="F59E0B"/>
          </a:solidFill>
          <a:ln/>
        </p:spPr>
      </p:sp>
      <p:sp>
        <p:nvSpPr>
          <p:cNvPr id="19" name="Text 17"/>
          <p:cNvSpPr/>
          <p:nvPr/>
        </p:nvSpPr>
        <p:spPr>
          <a:xfrm>
            <a:off x="3520440" y="3758184"/>
            <a:ext cx="868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HIGH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521208" y="3758184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  Category-Specific Lead Times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21208" y="4069080"/>
            <a:ext cx="3886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</a:rPr>
              <a:t>Implement category-aware delivery windows. Office Furniture and Electronics need dedicated heavy/specialty shipping lanes with +3–5 day buffers above standard.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4754880" y="1143000"/>
            <a:ext cx="4206240" cy="1078992"/>
          </a:xfrm>
          <a:prstGeom prst="rect">
            <a:avLst/>
          </a:prstGeom>
          <a:solidFill>
            <a:srgbClr val="122035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54880" y="1143000"/>
            <a:ext cx="73152" cy="107899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4" name="Shape 22"/>
          <p:cNvSpPr/>
          <p:nvPr/>
        </p:nvSpPr>
        <p:spPr>
          <a:xfrm>
            <a:off x="7955280" y="1234440"/>
            <a:ext cx="868680" cy="201168"/>
          </a:xfrm>
          <a:prstGeom prst="roundRect">
            <a:avLst>
              <a:gd name="adj" fmla="val 22727"/>
            </a:avLst>
          </a:prstGeom>
          <a:solidFill>
            <a:srgbClr val="0D9488"/>
          </a:solidFill>
          <a:ln/>
        </p:spPr>
      </p:sp>
      <p:sp>
        <p:nvSpPr>
          <p:cNvPr id="25" name="Text 23"/>
          <p:cNvSpPr/>
          <p:nvPr/>
        </p:nvSpPr>
        <p:spPr>
          <a:xfrm>
            <a:off x="7955280" y="1234440"/>
            <a:ext cx="868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MEDIUM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4956048" y="123444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  Proactive Customer Communication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956048" y="1545336"/>
            <a:ext cx="3886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</a:rPr>
              <a:t>Trigger SMS/email updates for orders showing carrier delays. Research indicates transparent delay communication reduces 1-star reviews by up to 25%.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4754880" y="2404872"/>
            <a:ext cx="4206240" cy="1078992"/>
          </a:xfrm>
          <a:prstGeom prst="rect">
            <a:avLst/>
          </a:prstGeom>
          <a:solidFill>
            <a:srgbClr val="122035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754880" y="2404872"/>
            <a:ext cx="73152" cy="107899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0" name="Shape 28"/>
          <p:cNvSpPr/>
          <p:nvPr/>
        </p:nvSpPr>
        <p:spPr>
          <a:xfrm>
            <a:off x="7955280" y="2496312"/>
            <a:ext cx="868680" cy="201168"/>
          </a:xfrm>
          <a:prstGeom prst="roundRect">
            <a:avLst>
              <a:gd name="adj" fmla="val 22727"/>
            </a:avLst>
          </a:prstGeom>
          <a:solidFill>
            <a:srgbClr val="0D9488"/>
          </a:solidFill>
          <a:ln/>
        </p:spPr>
      </p:sp>
      <p:sp>
        <p:nvSpPr>
          <p:cNvPr id="31" name="Text 29"/>
          <p:cNvSpPr/>
          <p:nvPr/>
        </p:nvSpPr>
        <p:spPr>
          <a:xfrm>
            <a:off x="7955280" y="2496312"/>
            <a:ext cx="868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MEDIUM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4956048" y="249631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 Monthly KPI Dashboard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956048" y="2807208"/>
            <a:ext cx="3886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</a:rPr>
              <a:t>Track late_rate % and avg_review_score by state monthly with automated alerts. Threshold: &gt;25% late rate triggers operational escalation review.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8046720" y="4800600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</a:rPr>
              <a:t>11 / 12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274320" y="4882896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4748B"/>
                </a:solidFill>
              </a:rPr>
              <a:t>Veridi Logistics — Delivery Performance Audit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5029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</a:rPr>
              <a:t>Thank You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4B8A6"/>
                </a:solidFill>
              </a:rPr>
              <a:t>Veridi Logistics — Last Mile Delivery Performance Audit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600200"/>
            <a:ext cx="2651760" cy="1280160"/>
          </a:xfrm>
          <a:prstGeom prst="rect">
            <a:avLst/>
          </a:prstGeom>
          <a:solidFill>
            <a:srgbClr val="0F2040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69164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B8A6"/>
                </a:solidFill>
              </a:rPr>
              <a:t>🗒️  Notebook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94360" y="201168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</a:rPr>
              <a:t>Google Colab (link in README)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94360" y="228600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</a:rPr>
              <a:t>Full analysis · All 4 stories + Bonus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3337560" y="1600200"/>
            <a:ext cx="2651760" cy="1280160"/>
          </a:xfrm>
          <a:prstGeom prst="rect">
            <a:avLst/>
          </a:prstGeom>
          <a:solidFill>
            <a:srgbClr val="0F2040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474720" y="169164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B8A6"/>
                </a:solidFill>
              </a:rPr>
              <a:t>📊  Dashboard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474720" y="201168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</a:rPr>
              <a:t>Tableau Public (link in README)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474720" y="228600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</a:rPr>
              <a:t>Interactive · Publicly accessible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6217920" y="1600200"/>
            <a:ext cx="2651760" cy="1280160"/>
          </a:xfrm>
          <a:prstGeom prst="rect">
            <a:avLst/>
          </a:prstGeom>
          <a:solidFill>
            <a:srgbClr val="0F2040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355080" y="169164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B8A6"/>
                </a:solidFill>
              </a:rPr>
              <a:t>📄  README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355080" y="201168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</a:rPr>
              <a:t>GitHub Repository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355080" y="228600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</a:rPr>
              <a:t>Executive Summary · Technical Notes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457200" y="3017520"/>
            <a:ext cx="8321040" cy="1828800"/>
          </a:xfrm>
          <a:prstGeom prst="rect">
            <a:avLst/>
          </a:prstGeom>
          <a:solidFill>
            <a:srgbClr val="0D1F35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40080" y="310896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</a:rPr>
              <a:t>Executive Summary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0080" y="3401568"/>
            <a:ext cx="79552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</a:rPr>
              <a:t>Veridi Logistics has a systemic delivery accuracy problem: ~23% of orders miss their estimated arrival date, and super-late deliveries average just 1.54★ (vs 4.18★ for on-time orders). 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</a:rPr>
              <a:t>The problem is not uniform — remote northern states (AM, AP, RR) suffer late rates 5× higher than core São Paulo-hub states. Specific product categories, particularly Office Furniture and Electronics, show disproportionate failure rates. 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</a:rPr>
              <a:t>The root cause is a combination of an over-optimistic ETA algorithm and inadequate last-mile carrier coverage in remote regions. Fixing the ETA algorithm alone would eliminate the majority of negative customer perception without requiring changes to carrier operations.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8046720" y="4800600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</a:rPr>
              <a:t>12 / 12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274320" y="4800600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4748B"/>
                </a:solidFill>
              </a:rPr>
              <a:t>Veridi Logistics — Delivery Performance Audit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1482</Words>
  <Application>Microsoft Office PowerPoint</Application>
  <PresentationFormat>On-screen Show (16:9)</PresentationFormat>
  <Paragraphs>242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Delivery Performance Audit</dc:title>
  <dc:subject>PptxGenJS Presentation</dc:subject>
  <dc:creator>Veridi Logistics</dc:creator>
  <cp:lastModifiedBy>Chadia Ingabire</cp:lastModifiedBy>
  <cp:revision>2</cp:revision>
  <dcterms:created xsi:type="dcterms:W3CDTF">2026-04-27T08:21:24Z</dcterms:created>
  <dcterms:modified xsi:type="dcterms:W3CDTF">2026-04-27T08:33:04Z</dcterms:modified>
</cp:coreProperties>
</file>